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67" r:id="rId3"/>
    <p:sldId id="257" r:id="rId4"/>
    <p:sldId id="266" r:id="rId5"/>
    <p:sldId id="261" r:id="rId6"/>
    <p:sldId id="268" r:id="rId7"/>
    <p:sldId id="258" r:id="rId8"/>
    <p:sldId id="260" r:id="rId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039" autoAdjust="0"/>
    <p:restoredTop sz="94660"/>
  </p:normalViewPr>
  <p:slideViewPr>
    <p:cSldViewPr>
      <p:cViewPr varScale="1">
        <p:scale>
          <a:sx n="78" d="100"/>
          <a:sy n="78" d="100"/>
        </p:scale>
        <p:origin x="1896"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86AD262E-AE8D-4AF3-B4BC-021EA607885F}" type="datetimeFigureOut">
              <a:rPr lang="en-US" smtClean="0"/>
              <a:pPr/>
              <a:t>8/11/2026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3299CE-E3FD-4D3E-9765-08F1080A672A}"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6AD262E-AE8D-4AF3-B4BC-021EA607885F}" type="datetimeFigureOut">
              <a:rPr lang="en-US" smtClean="0"/>
              <a:pPr/>
              <a:t>8/11/2026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3299CE-E3FD-4D3E-9765-08F1080A672A}"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6AD262E-AE8D-4AF3-B4BC-021EA607885F}" type="datetimeFigureOut">
              <a:rPr lang="en-US" smtClean="0"/>
              <a:pPr/>
              <a:t>8/11/2026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3299CE-E3FD-4D3E-9765-08F1080A672A}"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6AD262E-AE8D-4AF3-B4BC-021EA607885F}" type="datetimeFigureOut">
              <a:rPr lang="en-US" smtClean="0"/>
              <a:pPr/>
              <a:t>8/11/2026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3299CE-E3FD-4D3E-9765-08F1080A672A}"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6AD262E-AE8D-4AF3-B4BC-021EA607885F}" type="datetimeFigureOut">
              <a:rPr lang="en-US" smtClean="0"/>
              <a:pPr/>
              <a:t>8/11/2026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F3299CE-E3FD-4D3E-9765-08F1080A672A}"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6AD262E-AE8D-4AF3-B4BC-021EA607885F}" type="datetimeFigureOut">
              <a:rPr lang="en-US" smtClean="0"/>
              <a:pPr/>
              <a:t>8/11/2026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F3299CE-E3FD-4D3E-9765-08F1080A672A}"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6AD262E-AE8D-4AF3-B4BC-021EA607885F}" type="datetimeFigureOut">
              <a:rPr lang="en-US" smtClean="0"/>
              <a:pPr/>
              <a:t>8/11/2026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F3299CE-E3FD-4D3E-9765-08F1080A672A}"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6AD262E-AE8D-4AF3-B4BC-021EA607885F}" type="datetimeFigureOut">
              <a:rPr lang="en-US" smtClean="0"/>
              <a:pPr/>
              <a:t>8/11/2026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3299CE-E3FD-4D3E-9765-08F1080A672A}"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6AD262E-AE8D-4AF3-B4BC-021EA607885F}" type="datetimeFigureOut">
              <a:rPr lang="en-US" smtClean="0"/>
              <a:pPr/>
              <a:t>8/11/2026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3299CE-E3FD-4D3E-9765-08F1080A672A}"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6AD262E-AE8D-4AF3-B4BC-021EA607885F}" type="datetimeFigureOut">
              <a:rPr lang="en-US" smtClean="0"/>
              <a:pPr/>
              <a:t>8/11/2026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3299CE-E3FD-4D3E-9765-08F1080A672A}"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6AD262E-AE8D-4AF3-B4BC-021EA607885F}" type="datetimeFigureOut">
              <a:rPr lang="en-US" smtClean="0"/>
              <a:pPr/>
              <a:t>8/11/2026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3299CE-E3FD-4D3E-9765-08F1080A672A}"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6AD262E-AE8D-4AF3-B4BC-021EA607885F}" type="datetimeFigureOut">
              <a:rPr lang="en-US" smtClean="0"/>
              <a:pPr/>
              <a:t>8/11/2026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F3299CE-E3FD-4D3E-9765-08F1080A672A}"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828800"/>
            <a:ext cx="8229600" cy="1600200"/>
          </a:xfrm>
        </p:spPr>
        <p:txBody>
          <a:bodyPr>
            <a:normAutofit/>
          </a:bodyPr>
          <a:lstStyle/>
          <a:p>
            <a:r>
              <a:rPr lang="en-US" sz="2800" b="1" dirty="0">
                <a:latin typeface="Times New Roman" panose="02020603050405020304" pitchFamily="18" charset="0"/>
                <a:cs typeface="Times New Roman" panose="02020603050405020304" pitchFamily="18" charset="0"/>
              </a:rPr>
              <a:t>Canon: An AI-Assisted Reconciliation Engine for CRM-Data Warehouse Hierarchy Synchronization</a:t>
            </a:r>
            <a:br>
              <a:rPr lang="en-US" b="1"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Department of CSE(AI and ML)</a:t>
            </a:r>
            <a:endParaRPr lang="en-US" sz="3600" b="1"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609600" y="3759574"/>
            <a:ext cx="4876800" cy="1898374"/>
          </a:xfrm>
        </p:spPr>
        <p:txBody>
          <a:bodyPr>
            <a:noAutofit/>
          </a:bodyPr>
          <a:lstStyle/>
          <a:p>
            <a:pPr algn="just"/>
            <a:r>
              <a:rPr lang="en-US" sz="1700" dirty="0">
                <a:solidFill>
                  <a:schemeClr val="tx1"/>
                </a:solidFill>
                <a:latin typeface="Times New Roman" panose="02020603050405020304" pitchFamily="18" charset="0"/>
                <a:cs typeface="Times New Roman" panose="02020603050405020304" pitchFamily="18" charset="0"/>
              </a:rPr>
              <a:t>Team 17:  1.  Vallabh Dasari      (23R01A66R0)</a:t>
            </a:r>
            <a:r>
              <a:rPr lang="en-US" sz="1700" dirty="0">
                <a:solidFill>
                  <a:schemeClr val="tx1"/>
                </a:solidFill>
              </a:rPr>
              <a:t> </a:t>
            </a:r>
            <a:endParaRPr lang="en-US" sz="1700" dirty="0">
              <a:solidFill>
                <a:schemeClr val="tx1"/>
              </a:solidFill>
              <a:latin typeface="Times New Roman" panose="02020603050405020304" pitchFamily="18" charset="0"/>
              <a:cs typeface="Times New Roman" panose="02020603050405020304" pitchFamily="18" charset="0"/>
            </a:endParaRPr>
          </a:p>
          <a:p>
            <a:pPr algn="just"/>
            <a:r>
              <a:rPr lang="en-US" sz="1700" dirty="0">
                <a:solidFill>
                  <a:schemeClr val="tx1"/>
                </a:solidFill>
                <a:latin typeface="Times New Roman" panose="02020603050405020304" pitchFamily="18" charset="0"/>
                <a:cs typeface="Times New Roman" panose="02020603050405020304" pitchFamily="18" charset="0"/>
              </a:rPr>
              <a:t>                 2.  Parinita Malisetty (23R01A66X2)</a:t>
            </a:r>
          </a:p>
          <a:p>
            <a:pPr algn="just"/>
            <a:r>
              <a:rPr lang="en-US" sz="1700" dirty="0">
                <a:solidFill>
                  <a:schemeClr val="tx1"/>
                </a:solidFill>
                <a:latin typeface="Times New Roman" panose="02020603050405020304" pitchFamily="18" charset="0"/>
                <a:cs typeface="Times New Roman" panose="02020603050405020304" pitchFamily="18" charset="0"/>
              </a:rPr>
              <a:t>                 3.  S Keerti Madhavi (23R01A66Y2)</a:t>
            </a:r>
          </a:p>
          <a:p>
            <a:pPr algn="l"/>
            <a:r>
              <a:rPr lang="en-US" sz="1700" dirty="0">
                <a:solidFill>
                  <a:schemeClr val="tx1"/>
                </a:solidFill>
                <a:latin typeface="Times New Roman" panose="02020603050405020304" pitchFamily="18" charset="0"/>
                <a:cs typeface="Times New Roman" panose="02020603050405020304" pitchFamily="18" charset="0"/>
              </a:rPr>
              <a:t> </a:t>
            </a:r>
            <a:endParaRPr lang="en-US" sz="1700" dirty="0">
              <a:solidFill>
                <a:schemeClr val="tx1"/>
              </a:solidFill>
            </a:endParaRPr>
          </a:p>
        </p:txBody>
      </p:sp>
      <p:sp>
        <p:nvSpPr>
          <p:cNvPr id="4" name="Subtitle 2"/>
          <p:cNvSpPr txBox="1"/>
          <p:nvPr/>
        </p:nvSpPr>
        <p:spPr>
          <a:xfrm>
            <a:off x="6527800" y="3715564"/>
            <a:ext cx="2667000" cy="1752600"/>
          </a:xfrm>
          <a:prstGeom prst="rect">
            <a:avLst/>
          </a:prstGeom>
        </p:spPr>
        <p:txBody>
          <a:bodyPr vert="horz" lIns="91440" tIns="45720" rIns="91440" bIns="45720" rtlCol="0">
            <a:normAutofit/>
          </a:bodyPr>
          <a:lstStyle/>
          <a:p>
            <a:pPr marL="0" marR="0" lvl="0" indent="0" algn="just"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17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Under the Guidance </a:t>
            </a:r>
            <a:r>
              <a:rPr lang="en-US" sz="1700" dirty="0">
                <a:latin typeface="Times New Roman" panose="02020603050405020304" pitchFamily="18" charset="0"/>
                <a:cs typeface="Times New Roman" panose="02020603050405020304" pitchFamily="18" charset="0"/>
              </a:rPr>
              <a:t>of: </a:t>
            </a:r>
            <a:endParaRPr kumimoji="0" lang="en-US" sz="17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17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lang="en-US" sz="1700" dirty="0">
                <a:latin typeface="Times New Roman" panose="02020603050405020304" pitchFamily="18" charset="0"/>
                <a:cs typeface="Times New Roman" panose="02020603050405020304" pitchFamily="18" charset="0"/>
              </a:rPr>
              <a:t>Mrs. Saritha</a:t>
            </a:r>
            <a:endParaRPr kumimoji="0" lang="en-US" sz="1700" b="0" i="0" u="none" strike="noStrike" kern="1200" cap="none" spc="0" normalizeH="0" noProof="0" dirty="0">
              <a:ln>
                <a:noFill/>
              </a:ln>
              <a:solidFill>
                <a:schemeClr val="tx1"/>
              </a:solidFill>
              <a:effectLst/>
              <a:uLnTx/>
              <a:uFillTx/>
              <a:latin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lang="en-US" sz="1700" baseline="0" dirty="0">
                <a:latin typeface="Times New Roman" panose="02020603050405020304" pitchFamily="18" charset="0"/>
                <a:cs typeface="Times New Roman" panose="02020603050405020304" pitchFamily="18" charset="0"/>
              </a:rPr>
              <a:t> (Asst. Prof</a:t>
            </a:r>
            <a:r>
              <a:rPr lang="en-US" sz="1700" dirty="0">
                <a:latin typeface="Times New Roman" panose="02020603050405020304" pitchFamily="18" charset="0"/>
                <a:cs typeface="Times New Roman" panose="02020603050405020304" pitchFamily="18" charset="0"/>
              </a:rPr>
              <a:t>essor)</a:t>
            </a:r>
          </a:p>
          <a:p>
            <a:pPr marL="0" marR="0" lvl="0" indent="0" algn="just"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lang="en-US" sz="1700" dirty="0">
                <a:latin typeface="Times New Roman" panose="02020603050405020304" pitchFamily="18" charset="0"/>
                <a:cs typeface="Times New Roman" panose="02020603050405020304" pitchFamily="18" charset="0"/>
              </a:rPr>
              <a:t> CSE (AI&amp;ML)</a:t>
            </a:r>
          </a:p>
          <a:p>
            <a:pPr marL="0" marR="0" lvl="0" indent="0" algn="just"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17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CMRIT,</a:t>
            </a:r>
            <a:r>
              <a:rPr kumimoji="0" lang="en-US" sz="1700" b="0" i="0" u="none" strike="noStrike" kern="1200" cap="none" spc="0" normalizeH="0" noProof="0" dirty="0">
                <a:ln>
                  <a:noFill/>
                </a:ln>
                <a:solidFill>
                  <a:schemeClr val="tx1"/>
                </a:solidFill>
                <a:effectLst/>
                <a:uLnTx/>
                <a:uFillTx/>
                <a:latin typeface="Times New Roman" panose="02020603050405020304" pitchFamily="18" charset="0"/>
                <a:cs typeface="Times New Roman" panose="02020603050405020304" pitchFamily="18" charset="0"/>
              </a:rPr>
              <a:t> Hyderabad.</a:t>
            </a:r>
            <a:r>
              <a:rPr kumimoji="0" lang="en-US" sz="17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p>
        </p:txBody>
      </p:sp>
      <p:pic>
        <p:nvPicPr>
          <p:cNvPr id="7" name="Picture 6">
            <a:extLst>
              <a:ext uri="{FF2B5EF4-FFF2-40B4-BE49-F238E27FC236}">
                <a16:creationId xmlns:a16="http://schemas.microsoft.com/office/drawing/2014/main" id="{0381D9D4-423D-C2BD-F1BA-9D02101B0BC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81557" y="298858"/>
            <a:ext cx="885825" cy="1072742"/>
          </a:xfrm>
          <a:prstGeom prst="rect">
            <a:avLst/>
          </a:prstGeom>
        </p:spPr>
      </p:pic>
      <p:pic>
        <p:nvPicPr>
          <p:cNvPr id="9" name="Picture 8">
            <a:extLst>
              <a:ext uri="{FF2B5EF4-FFF2-40B4-BE49-F238E27FC236}">
                <a16:creationId xmlns:a16="http://schemas.microsoft.com/office/drawing/2014/main" id="{57F80FE7-058D-9133-EB63-F1BF9F3F4F4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67382" y="450411"/>
            <a:ext cx="6181218" cy="76878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4A7637D-A9C8-439A-730D-E3FE6C1794F4}"/>
              </a:ext>
            </a:extLst>
          </p:cNvPr>
          <p:cNvSpPr>
            <a:spLocks noGrp="1"/>
          </p:cNvSpPr>
          <p:nvPr>
            <p:ph idx="1"/>
          </p:nvPr>
        </p:nvSpPr>
        <p:spPr>
          <a:xfrm>
            <a:off x="457200" y="152400"/>
            <a:ext cx="8229600" cy="5973763"/>
          </a:xfrm>
        </p:spPr>
        <p:txBody>
          <a:bodyPr/>
          <a:lstStyle/>
          <a:p>
            <a:pPr marL="0" indent="0" algn="ctr">
              <a:buNone/>
            </a:pPr>
            <a:r>
              <a:rPr lang="en-US" sz="3600" u="sng" dirty="0">
                <a:latin typeface="Times New Roman" panose="02020603050405020304" pitchFamily="18" charset="0"/>
                <a:cs typeface="Times New Roman" panose="02020603050405020304" pitchFamily="18" charset="0"/>
              </a:rPr>
              <a:t>OUTLINES:</a:t>
            </a:r>
            <a:endParaRPr lang="en-IN" sz="3600" u="sng"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Abstract </a:t>
            </a:r>
          </a:p>
          <a:p>
            <a:pPr marL="0" indent="0">
              <a:buNone/>
            </a:pPr>
            <a:r>
              <a:rPr lang="en-IN" dirty="0">
                <a:latin typeface="Times New Roman" panose="02020603050405020304" pitchFamily="18" charset="0"/>
                <a:cs typeface="Times New Roman" panose="02020603050405020304" pitchFamily="18" charset="0"/>
              </a:rPr>
              <a:t>Problem statement</a:t>
            </a:r>
          </a:p>
          <a:p>
            <a:pPr marL="0" indent="0">
              <a:buNone/>
            </a:pPr>
            <a:r>
              <a:rPr lang="en-IN" dirty="0">
                <a:latin typeface="Times New Roman" panose="02020603050405020304" pitchFamily="18" charset="0"/>
                <a:cs typeface="Times New Roman" panose="02020603050405020304" pitchFamily="18" charset="0"/>
              </a:rPr>
              <a:t>Introduction</a:t>
            </a:r>
          </a:p>
          <a:p>
            <a:pPr marL="0" indent="0">
              <a:buNone/>
            </a:pPr>
            <a:r>
              <a:rPr lang="en-IN" dirty="0">
                <a:latin typeface="Times New Roman" panose="02020603050405020304" pitchFamily="18" charset="0"/>
                <a:cs typeface="Times New Roman" panose="02020603050405020304" pitchFamily="18" charset="0"/>
              </a:rPr>
              <a:t>Literature Review</a:t>
            </a:r>
          </a:p>
          <a:p>
            <a:pPr marL="0" indent="0">
              <a:buNone/>
            </a:pPr>
            <a:endParaRPr lang="en-US" dirty="0"/>
          </a:p>
        </p:txBody>
      </p:sp>
    </p:spTree>
    <p:extLst>
      <p:ext uri="{BB962C8B-B14F-4D97-AF65-F5344CB8AC3E}">
        <p14:creationId xmlns:p14="http://schemas.microsoft.com/office/powerpoint/2010/main" val="42582381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457200"/>
          </a:xfrm>
        </p:spPr>
        <p:txBody>
          <a:bodyPr>
            <a:noAutofit/>
          </a:bodyPr>
          <a:lstStyle/>
          <a:p>
            <a:r>
              <a:rPr lang="en-US" sz="3600" dirty="0">
                <a:latin typeface="Times New Roman" panose="02020603050405020304" pitchFamily="18" charset="0"/>
                <a:cs typeface="Times New Roman" panose="02020603050405020304" pitchFamily="18" charset="0"/>
              </a:rPr>
              <a:t>ABSTRACT</a:t>
            </a:r>
          </a:p>
        </p:txBody>
      </p:sp>
      <p:sp>
        <p:nvSpPr>
          <p:cNvPr id="3" name="Content Placeholder 2"/>
          <p:cNvSpPr>
            <a:spLocks noGrp="1"/>
          </p:cNvSpPr>
          <p:nvPr>
            <p:ph idx="1"/>
          </p:nvPr>
        </p:nvSpPr>
        <p:spPr>
          <a:xfrm>
            <a:off x="457200" y="1143000"/>
            <a:ext cx="8229600" cy="5105400"/>
          </a:xfrm>
        </p:spPr>
        <p:txBody>
          <a:bodyPr>
            <a:noAutofit/>
          </a:bodyPr>
          <a:lstStyle/>
          <a:p>
            <a:pPr marL="0" indent="0" algn="just">
              <a:lnSpc>
                <a:spcPct val="120000"/>
              </a:lnSpc>
              <a:buNone/>
            </a:pPr>
            <a:r>
              <a:rPr lang="en-US" sz="2400" dirty="0">
                <a:latin typeface="Times New Roman" panose="02020603050405020304" pitchFamily="18" charset="0"/>
                <a:cs typeface="Times New Roman" panose="02020603050405020304" pitchFamily="18" charset="0"/>
              </a:rPr>
              <a:t>Canon is an AI-assisted reconciliation engine that detects and resolves inconsistencies between CRM platforms such as Salesforce/HubSpot and data warehouses like Databricks/Snowflake. It converts records into a common schema, intelligently matches them, identifies and classifies field-level conflicts, and applies deterministic rules before using an LLM for unresolved cases. Resolutions are validated against source data, while ambiguous conflicts are escalated for human review. An append-only audit trail records every decision, making data reconciliation automated, reliable, explainable, and measurable.</a:t>
            </a:r>
          </a:p>
        </p:txBody>
      </p:sp>
      <p:pic>
        <p:nvPicPr>
          <p:cNvPr id="6" name="Picture 5">
            <a:extLst>
              <a:ext uri="{FF2B5EF4-FFF2-40B4-BE49-F238E27FC236}">
                <a16:creationId xmlns:a16="http://schemas.microsoft.com/office/drawing/2014/main" id="{6CAB70B6-B8E7-6E5A-D42F-C1BB9DFFE2B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077200" y="70258"/>
            <a:ext cx="885825" cy="107274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B6CBD-C024-2738-3183-0D6EE6C3DEB0}"/>
              </a:ext>
            </a:extLst>
          </p:cNvPr>
          <p:cNvSpPr>
            <a:spLocks noGrp="1"/>
          </p:cNvSpPr>
          <p:nvPr>
            <p:ph type="title"/>
          </p:nvPr>
        </p:nvSpPr>
        <p:spPr>
          <a:xfrm>
            <a:off x="533400" y="-228600"/>
            <a:ext cx="8229600" cy="1143000"/>
          </a:xfrm>
        </p:spPr>
        <p:txBody>
          <a:bodyPr>
            <a:normAutofit/>
          </a:bodyPr>
          <a:lstStyle/>
          <a:p>
            <a:r>
              <a:rPr lang="en-US" sz="3600" dirty="0">
                <a:latin typeface="Times New Roman" panose="02020603050405020304" pitchFamily="18" charset="0"/>
                <a:cs typeface="Times New Roman" panose="02020603050405020304" pitchFamily="18" charset="0"/>
              </a:rPr>
              <a:t>Problem Statement</a:t>
            </a:r>
            <a:endParaRPr lang="en-IN"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D506F7C-3118-84E0-551B-7677E8118E52}"/>
              </a:ext>
            </a:extLst>
          </p:cNvPr>
          <p:cNvSpPr>
            <a:spLocks noGrp="1"/>
          </p:cNvSpPr>
          <p:nvPr>
            <p:ph idx="1"/>
          </p:nvPr>
        </p:nvSpPr>
        <p:spPr>
          <a:xfrm>
            <a:off x="457200" y="808037"/>
            <a:ext cx="8229600" cy="4983163"/>
          </a:xfrm>
        </p:spPr>
        <p:txBody>
          <a:bodyPr>
            <a:noAutofit/>
          </a:bodyPr>
          <a:lstStyle/>
          <a:p>
            <a:pPr marL="0" indent="0" algn="just">
              <a:buNone/>
            </a:pPr>
            <a:r>
              <a:rPr lang="en-IN" sz="2400" dirty="0">
                <a:latin typeface="Times New Roman" panose="02020603050405020304" pitchFamily="18" charset="0"/>
                <a:cs typeface="Times New Roman" panose="02020603050405020304" pitchFamily="18" charset="0"/>
              </a:rPr>
              <a:t>Organizations often maintain the same business data across multiple systems, such as CRM platforms and data warehouses, which are updated independently and can gradually drift apart. This results in inconsistent records, incorrect account ownership, misattributed commissions, and unreliable business analytics. Existing manual reconciliation processes are time-consuming, error-prone, and difficult to scale, while traditional rule-based approaches may struggle with complex or ambiguous conflicts. Therefore, there is a need for an automated and intelligent reconciliation system that can accurately identify matching records, detect and resolve inconsistencies, validate proposed decisions, and provide explanations and audit trails while escalating uncertain cases for human review. </a:t>
            </a:r>
            <a:r>
              <a:rPr lang="en-US" sz="2400" dirty="0">
                <a:latin typeface="Times New Roman" panose="02020603050405020304" pitchFamily="18" charset="0"/>
                <a:cs typeface="Times New Roman" panose="02020603050405020304" pitchFamily="18" charset="0"/>
              </a:rPr>
              <a:t>There is a need for an automated system that detects these cross-system conflicts, proposes a defensible, policy-grounded resolution, and records every decision for audit.</a:t>
            </a:r>
            <a:endParaRPr lang="en-IN" sz="24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A197079F-214C-B0C8-6EE8-E8560ACD7C1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077201" y="17206"/>
            <a:ext cx="762000" cy="922789"/>
          </a:xfrm>
          <a:prstGeom prst="rect">
            <a:avLst/>
          </a:prstGeom>
        </p:spPr>
      </p:pic>
    </p:spTree>
    <p:extLst>
      <p:ext uri="{BB962C8B-B14F-4D97-AF65-F5344CB8AC3E}">
        <p14:creationId xmlns:p14="http://schemas.microsoft.com/office/powerpoint/2010/main" val="4070222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7610C0-FCE0-AF6D-FC31-186DC94E0E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A5D9AA-7A15-09C8-8F75-D94D036D973C}"/>
              </a:ext>
            </a:extLst>
          </p:cNvPr>
          <p:cNvSpPr>
            <a:spLocks noGrp="1"/>
          </p:cNvSpPr>
          <p:nvPr>
            <p:ph type="title"/>
          </p:nvPr>
        </p:nvSpPr>
        <p:spPr>
          <a:xfrm>
            <a:off x="381000" y="381000"/>
            <a:ext cx="8229600" cy="838200"/>
          </a:xfrm>
        </p:spPr>
        <p:txBody>
          <a:bodyPr>
            <a:normAutofit/>
          </a:bodyPr>
          <a:lstStyle/>
          <a:p>
            <a:r>
              <a:rPr lang="en-US" sz="3600"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6DEF2029-F379-5089-CF01-B141C1B47C94}"/>
              </a:ext>
            </a:extLst>
          </p:cNvPr>
          <p:cNvSpPr>
            <a:spLocks noGrp="1"/>
          </p:cNvSpPr>
          <p:nvPr>
            <p:ph idx="1"/>
          </p:nvPr>
        </p:nvSpPr>
        <p:spPr>
          <a:xfrm>
            <a:off x="457200" y="1413387"/>
            <a:ext cx="8229600" cy="4678363"/>
          </a:xfrm>
        </p:spPr>
        <p:txBody>
          <a:bodyPr>
            <a:noAutofit/>
          </a:bodyPr>
          <a:lstStyle/>
          <a:p>
            <a:pPr marL="0" indent="0" algn="just">
              <a:buNone/>
            </a:pPr>
            <a:r>
              <a:rPr lang="en-US" sz="2400" dirty="0">
                <a:latin typeface="Times New Roman" panose="02020603050405020304" pitchFamily="18" charset="0"/>
                <a:cs typeface="Times New Roman" panose="02020603050405020304" pitchFamily="18" charset="0"/>
              </a:rPr>
              <a:t>Organizations increasingly rely on multiple data systems to manage critical business information. However, differences in how these systems are updated and maintained often cause records to become inconsistent over time. Changes in employees, account ownership, territories, and organizational structures can further increase this data drift. Such inconsistencies can impact reporting, forecasting, commissions, and operational decisions. As data volumes grow, traditional manual reconciliation becomes inefficient, highlighting the need for a scalable and reliable approach to maintaining consistency across enterprise systems.</a:t>
            </a:r>
          </a:p>
        </p:txBody>
      </p:sp>
      <p:pic>
        <p:nvPicPr>
          <p:cNvPr id="6" name="Picture 5">
            <a:extLst>
              <a:ext uri="{FF2B5EF4-FFF2-40B4-BE49-F238E27FC236}">
                <a16:creationId xmlns:a16="http://schemas.microsoft.com/office/drawing/2014/main" id="{DA8171B6-5BB9-AFFA-A022-6BDB0D5B058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887007" y="146458"/>
            <a:ext cx="885825" cy="1072742"/>
          </a:xfrm>
          <a:prstGeom prst="rect">
            <a:avLst/>
          </a:prstGeom>
        </p:spPr>
      </p:pic>
    </p:spTree>
    <p:extLst>
      <p:ext uri="{BB962C8B-B14F-4D97-AF65-F5344CB8AC3E}">
        <p14:creationId xmlns:p14="http://schemas.microsoft.com/office/powerpoint/2010/main" val="8114327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7610C0-FCE0-AF6D-FC31-186DC94E0E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A5D9AA-7A15-09C8-8F75-D94D036D973C}"/>
              </a:ext>
            </a:extLst>
          </p:cNvPr>
          <p:cNvSpPr>
            <a:spLocks noGrp="1"/>
          </p:cNvSpPr>
          <p:nvPr>
            <p:ph type="title"/>
          </p:nvPr>
        </p:nvSpPr>
        <p:spPr>
          <a:xfrm>
            <a:off x="304800" y="148713"/>
            <a:ext cx="8229600" cy="838200"/>
          </a:xfrm>
        </p:spPr>
        <p:txBody>
          <a:bodyPr>
            <a:normAutofit/>
          </a:bodyPr>
          <a:lstStyle/>
          <a:p>
            <a:r>
              <a:rPr lang="en-US" sz="3600" dirty="0">
                <a:latin typeface="Times New Roman" panose="02020603050405020304" pitchFamily="18" charset="0"/>
                <a:cs typeface="Times New Roman" panose="02020603050405020304" pitchFamily="18" charset="0"/>
              </a:rPr>
              <a:t>INTRODUCTION </a:t>
            </a:r>
          </a:p>
        </p:txBody>
      </p:sp>
      <p:sp>
        <p:nvSpPr>
          <p:cNvPr id="3" name="Content Placeholder 2">
            <a:extLst>
              <a:ext uri="{FF2B5EF4-FFF2-40B4-BE49-F238E27FC236}">
                <a16:creationId xmlns:a16="http://schemas.microsoft.com/office/drawing/2014/main" id="{6DEF2029-F379-5089-CF01-B141C1B47C94}"/>
              </a:ext>
            </a:extLst>
          </p:cNvPr>
          <p:cNvSpPr>
            <a:spLocks noGrp="1"/>
          </p:cNvSpPr>
          <p:nvPr>
            <p:ph idx="1"/>
          </p:nvPr>
        </p:nvSpPr>
        <p:spPr>
          <a:xfrm>
            <a:off x="457200" y="1066800"/>
            <a:ext cx="8229600" cy="5257800"/>
          </a:xfrm>
        </p:spPr>
        <p:txBody>
          <a:bodyPr>
            <a:noAutofit/>
          </a:bodyPr>
          <a:lstStyle/>
          <a:p>
            <a:pPr marL="0" indent="0">
              <a:buNone/>
            </a:pPr>
            <a:r>
              <a:rPr lang="en-IN" dirty="0">
                <a:latin typeface="Times New Roman" panose="02020603050405020304" pitchFamily="18" charset="0"/>
                <a:cs typeface="Times New Roman" panose="02020603050405020304" pitchFamily="18" charset="0"/>
              </a:rPr>
              <a:t>Four-Stage Reconciliation Pipeline:</a:t>
            </a:r>
          </a:p>
          <a:p>
            <a:pPr lvl="0"/>
            <a:r>
              <a:rPr lang="en-IN" sz="2400" u="sng" dirty="0">
                <a:latin typeface="Times New Roman" panose="02020603050405020304" pitchFamily="18" charset="0"/>
                <a:cs typeface="Times New Roman" panose="02020603050405020304" pitchFamily="18" charset="0"/>
              </a:rPr>
              <a:t>Data Ingestion &amp; Normalization:</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Extracts CRM and warehouse records and converts them into a common canonical schema.</a:t>
            </a:r>
          </a:p>
          <a:p>
            <a:pPr lvl="0"/>
            <a:r>
              <a:rPr lang="en-IN" sz="2400" u="sng" dirty="0">
                <a:latin typeface="Times New Roman" panose="02020603050405020304" pitchFamily="18" charset="0"/>
                <a:cs typeface="Times New Roman" panose="02020603050405020304" pitchFamily="18" charset="0"/>
              </a:rPr>
              <a:t>Entity Matching:</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Uses exact matching, embeddings, and FAISS-based blocking to efficiently identify corresponding records.</a:t>
            </a:r>
          </a:p>
          <a:p>
            <a:pPr lvl="0"/>
            <a:r>
              <a:rPr lang="en-IN" sz="2400" u="sng" dirty="0">
                <a:latin typeface="Times New Roman" panose="02020603050405020304" pitchFamily="18" charset="0"/>
                <a:cs typeface="Times New Roman" panose="02020603050405020304" pitchFamily="18" charset="0"/>
              </a:rPr>
              <a:t>Conflict Detection:</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Compares matched records field-by-field and classifies conflicts by type and severity.</a:t>
            </a:r>
          </a:p>
          <a:p>
            <a:pPr lvl="0"/>
            <a:r>
              <a:rPr lang="en-IN" sz="2400" u="sng" dirty="0">
                <a:latin typeface="Times New Roman" panose="02020603050405020304" pitchFamily="18" charset="0"/>
                <a:cs typeface="Times New Roman" panose="02020603050405020304" pitchFamily="18" charset="0"/>
              </a:rPr>
              <a:t>Intelligent Resolution and Evaluation:</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Applies deterministic survivorship rules first, then uses a </a:t>
            </a:r>
            <a:r>
              <a:rPr lang="en-IN" sz="2400" dirty="0" err="1">
                <a:latin typeface="Times New Roman" panose="02020603050405020304" pitchFamily="18" charset="0"/>
                <a:cs typeface="Times New Roman" panose="02020603050405020304" pitchFamily="18" charset="0"/>
              </a:rPr>
              <a:t>LangGraph</a:t>
            </a:r>
            <a:r>
              <a:rPr lang="en-IN" sz="2400" dirty="0">
                <a:latin typeface="Times New Roman" panose="02020603050405020304" pitchFamily="18" charset="0"/>
                <a:cs typeface="Times New Roman" panose="02020603050405020304" pitchFamily="18" charset="0"/>
              </a:rPr>
              <a:t>-orchestrated LLM agent for unresolved conflicts.</a:t>
            </a:r>
          </a:p>
        </p:txBody>
      </p:sp>
      <p:pic>
        <p:nvPicPr>
          <p:cNvPr id="6" name="Picture 5">
            <a:extLst>
              <a:ext uri="{FF2B5EF4-FFF2-40B4-BE49-F238E27FC236}">
                <a16:creationId xmlns:a16="http://schemas.microsoft.com/office/drawing/2014/main" id="{0E91AF3E-645A-6C1E-1602-81837D9AF0C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091487" y="116758"/>
            <a:ext cx="885825" cy="1072742"/>
          </a:xfrm>
          <a:prstGeom prst="rect">
            <a:avLst/>
          </a:prstGeom>
        </p:spPr>
      </p:pic>
    </p:spTree>
    <p:extLst>
      <p:ext uri="{BB962C8B-B14F-4D97-AF65-F5344CB8AC3E}">
        <p14:creationId xmlns:p14="http://schemas.microsoft.com/office/powerpoint/2010/main" val="8114327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304800"/>
            <a:ext cx="8229600" cy="1232452"/>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r>
              <a:rPr lang="en-IN" sz="2800" b="0" strike="noStrike" spc="-1" dirty="0">
                <a:solidFill>
                  <a:srgbClr val="000000"/>
                </a:solidFill>
                <a:latin typeface="Times New Roman" panose="02020603050405020304"/>
                <a:ea typeface="DejaVu Sans"/>
              </a:rPr>
              <a:t>LITERATURE REVIEW</a:t>
            </a:r>
            <a:br>
              <a:rPr lang="en-IN" sz="2800" b="0" strike="noStrike" spc="-1" dirty="0">
                <a:solidFill>
                  <a:srgbClr val="000000"/>
                </a:solidFill>
                <a:latin typeface="Times New Roman" panose="02020603050405020304"/>
                <a:ea typeface="DejaVu Sans"/>
              </a:rPr>
            </a:br>
            <a:endParaRPr lang="en-IN" sz="2800" b="0" strike="noStrike" spc="-1" dirty="0">
              <a:latin typeface="Arial" panose="020B0604020202020204"/>
            </a:endParaRPr>
          </a:p>
        </p:txBody>
      </p:sp>
      <p:graphicFrame>
        <p:nvGraphicFramePr>
          <p:cNvPr id="8" name="Content Placeholder 7"/>
          <p:cNvGraphicFramePr>
            <a:graphicFrameLocks noGrp="1"/>
          </p:cNvGraphicFramePr>
          <p:nvPr>
            <p:ph idx="1"/>
            <p:extLst>
              <p:ext uri="{D42A27DB-BD31-4B8C-83A1-F6EECF244321}">
                <p14:modId xmlns:p14="http://schemas.microsoft.com/office/powerpoint/2010/main" val="373460159"/>
              </p:ext>
            </p:extLst>
          </p:nvPr>
        </p:nvGraphicFramePr>
        <p:xfrm>
          <a:off x="304800" y="1066800"/>
          <a:ext cx="8534400" cy="5410201"/>
        </p:xfrm>
        <a:graphic>
          <a:graphicData uri="http://schemas.openxmlformats.org/drawingml/2006/table">
            <a:tbl>
              <a:tblPr firstRow="1" bandRow="1">
                <a:tableStyleId>{5940675A-B579-460E-94D1-54222C63F5DA}</a:tableStyleId>
              </a:tblPr>
              <a:tblGrid>
                <a:gridCol w="304800">
                  <a:extLst>
                    <a:ext uri="{9D8B030D-6E8A-4147-A177-3AD203B41FA5}">
                      <a16:colId xmlns:a16="http://schemas.microsoft.com/office/drawing/2014/main" val="20000"/>
                    </a:ext>
                  </a:extLst>
                </a:gridCol>
                <a:gridCol w="1692438">
                  <a:extLst>
                    <a:ext uri="{9D8B030D-6E8A-4147-A177-3AD203B41FA5}">
                      <a16:colId xmlns:a16="http://schemas.microsoft.com/office/drawing/2014/main" val="20001"/>
                    </a:ext>
                  </a:extLst>
                </a:gridCol>
                <a:gridCol w="1584162">
                  <a:extLst>
                    <a:ext uri="{9D8B030D-6E8A-4147-A177-3AD203B41FA5}">
                      <a16:colId xmlns:a16="http://schemas.microsoft.com/office/drawing/2014/main" val="20002"/>
                    </a:ext>
                  </a:extLst>
                </a:gridCol>
                <a:gridCol w="1447800">
                  <a:extLst>
                    <a:ext uri="{9D8B030D-6E8A-4147-A177-3AD203B41FA5}">
                      <a16:colId xmlns:a16="http://schemas.microsoft.com/office/drawing/2014/main" val="20003"/>
                    </a:ext>
                  </a:extLst>
                </a:gridCol>
                <a:gridCol w="1752600">
                  <a:extLst>
                    <a:ext uri="{9D8B030D-6E8A-4147-A177-3AD203B41FA5}">
                      <a16:colId xmlns:a16="http://schemas.microsoft.com/office/drawing/2014/main" val="20004"/>
                    </a:ext>
                  </a:extLst>
                </a:gridCol>
                <a:gridCol w="1752600">
                  <a:extLst>
                    <a:ext uri="{9D8B030D-6E8A-4147-A177-3AD203B41FA5}">
                      <a16:colId xmlns:a16="http://schemas.microsoft.com/office/drawing/2014/main" val="20005"/>
                    </a:ext>
                  </a:extLst>
                </a:gridCol>
              </a:tblGrid>
              <a:tr h="631517">
                <a:tc>
                  <a:txBody>
                    <a:bodyPr/>
                    <a:lstStyle/>
                    <a:p>
                      <a:pPr algn="l"/>
                      <a:r>
                        <a:rPr lang="en-US" sz="1100" b="1" dirty="0" err="1">
                          <a:latin typeface="Times New Roman" panose="02020603050405020304" pitchFamily="18" charset="0"/>
                          <a:cs typeface="Times New Roman" panose="02020603050405020304" pitchFamily="18" charset="0"/>
                        </a:rPr>
                        <a:t>S.No</a:t>
                      </a:r>
                      <a:endParaRPr lang="en-US" sz="1100" b="1" dirty="0">
                        <a:latin typeface="Times New Roman" panose="02020603050405020304" pitchFamily="18" charset="0"/>
                        <a:cs typeface="Times New Roman" panose="02020603050405020304" pitchFamily="18" charset="0"/>
                      </a:endParaRPr>
                    </a:p>
                  </a:txBody>
                  <a:tcPr marL="72829" marR="72829" marT="18000" marB="18000"/>
                </a:tc>
                <a:tc>
                  <a:txBody>
                    <a:bodyPr/>
                    <a:lstStyle/>
                    <a:p>
                      <a:pPr algn="ctr"/>
                      <a:r>
                        <a:rPr lang="en-US" sz="1100" b="1" dirty="0">
                          <a:latin typeface="Times New Roman" panose="02020603050405020304" pitchFamily="18" charset="0"/>
                          <a:cs typeface="Times New Roman" panose="02020603050405020304" pitchFamily="18" charset="0"/>
                        </a:rPr>
                        <a:t>Title of the Paper</a:t>
                      </a:r>
                    </a:p>
                  </a:txBody>
                  <a:tcPr marL="72829" marR="72829" marT="18000" marB="1800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dirty="0">
                          <a:latin typeface="Times New Roman" panose="02020603050405020304" pitchFamily="18" charset="0"/>
                          <a:cs typeface="Times New Roman" panose="02020603050405020304" pitchFamily="18" charset="0"/>
                        </a:rPr>
                        <a:t>Limitation of Existing Work</a:t>
                      </a:r>
                    </a:p>
                    <a:p>
                      <a:pPr algn="ctr"/>
                      <a:endParaRPr lang="en-US" sz="1100" b="1" dirty="0">
                        <a:latin typeface="Times New Roman" panose="02020603050405020304" pitchFamily="18" charset="0"/>
                        <a:cs typeface="Times New Roman" panose="02020603050405020304" pitchFamily="18" charset="0"/>
                      </a:endParaRPr>
                    </a:p>
                  </a:txBody>
                  <a:tcPr marL="72829" marR="72829" marT="18000" marB="1800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dirty="0">
                          <a:latin typeface="Times New Roman" panose="02020603050405020304" pitchFamily="18" charset="0"/>
                          <a:cs typeface="Times New Roman" panose="02020603050405020304" pitchFamily="18" charset="0"/>
                        </a:rPr>
                        <a:t>Research Gap</a:t>
                      </a:r>
                    </a:p>
                    <a:p>
                      <a:pPr algn="ctr"/>
                      <a:endParaRPr lang="en-US" sz="1100" b="1" dirty="0">
                        <a:latin typeface="Times New Roman" panose="02020603050405020304" pitchFamily="18" charset="0"/>
                        <a:cs typeface="Times New Roman" panose="02020603050405020304" pitchFamily="18" charset="0"/>
                      </a:endParaRPr>
                    </a:p>
                  </a:txBody>
                  <a:tcPr marL="72829" marR="72829" marT="18000" marB="18000"/>
                </a:tc>
                <a:tc>
                  <a:txBody>
                    <a:bodyPr/>
                    <a:lstStyle/>
                    <a:p>
                      <a:pPr algn="ctr"/>
                      <a:r>
                        <a:rPr lang="en-US" sz="1100" b="1" dirty="0">
                          <a:latin typeface="Times New Roman" panose="02020603050405020304" pitchFamily="18" charset="0"/>
                          <a:cs typeface="Times New Roman" panose="02020603050405020304" pitchFamily="18" charset="0"/>
                        </a:rPr>
                        <a:t>Methodology </a:t>
                      </a:r>
                    </a:p>
                    <a:p>
                      <a:pPr algn="ctr"/>
                      <a:r>
                        <a:rPr lang="en-US" sz="1100" b="1" dirty="0">
                          <a:latin typeface="Times New Roman" panose="02020603050405020304" pitchFamily="18" charset="0"/>
                          <a:cs typeface="Times New Roman" panose="02020603050405020304" pitchFamily="18" charset="0"/>
                        </a:rPr>
                        <a:t>or </a:t>
                      </a:r>
                    </a:p>
                    <a:p>
                      <a:pPr algn="ctr"/>
                      <a:r>
                        <a:rPr lang="en-US" sz="1100" b="1" dirty="0">
                          <a:latin typeface="Times New Roman" panose="02020603050405020304" pitchFamily="18" charset="0"/>
                          <a:cs typeface="Times New Roman" panose="02020603050405020304" pitchFamily="18" charset="0"/>
                        </a:rPr>
                        <a:t>Algorithm</a:t>
                      </a:r>
                    </a:p>
                  </a:txBody>
                  <a:tcPr marL="72829" marR="72829" marT="18000" marB="18000"/>
                </a:tc>
                <a:tc>
                  <a:txBody>
                    <a:bodyPr/>
                    <a:lstStyle/>
                    <a:p>
                      <a:pPr algn="ctr"/>
                      <a:r>
                        <a:rPr lang="en-US" sz="1100" b="1" dirty="0">
                          <a:latin typeface="Times New Roman" panose="02020603050405020304" pitchFamily="18" charset="0"/>
                          <a:cs typeface="Times New Roman" panose="02020603050405020304" pitchFamily="18" charset="0"/>
                        </a:rPr>
                        <a:t>Inference</a:t>
                      </a:r>
                    </a:p>
                  </a:txBody>
                  <a:tcPr marL="72829" marR="72829" marT="18000" marB="18000"/>
                </a:tc>
                <a:extLst>
                  <a:ext uri="{0D108BD9-81ED-4DB2-BD59-A6C34878D82A}">
                    <a16:rowId xmlns:a16="http://schemas.microsoft.com/office/drawing/2014/main" val="10000"/>
                  </a:ext>
                </a:extLst>
              </a:tr>
              <a:tr h="960893">
                <a:tc>
                  <a:txBody>
                    <a:bodyPr/>
                    <a:lstStyle/>
                    <a:p>
                      <a:r>
                        <a:rPr lang="en-US" sz="1000" dirty="0">
                          <a:latin typeface="Times New Roman" panose="02020603050405020304" pitchFamily="18" charset="0"/>
                          <a:cs typeface="Times New Roman" panose="02020603050405020304" pitchFamily="18" charset="0"/>
                        </a:rPr>
                        <a:t>1</a:t>
                      </a:r>
                    </a:p>
                  </a:txBody>
                  <a:tcPr marL="72829" marR="72829" marT="18000" marB="18000"/>
                </a:tc>
                <a:tc>
                  <a:txBody>
                    <a:bodyPr/>
                    <a:lstStyle/>
                    <a:p>
                      <a:r>
                        <a:rPr lang="en-US" sz="1100" dirty="0">
                          <a:latin typeface="Times New Roman" panose="02020603050405020304" pitchFamily="18" charset="0"/>
                          <a:cs typeface="Times New Roman" panose="02020603050405020304" pitchFamily="18" charset="0"/>
                        </a:rPr>
                        <a:t>Deep Entity Matching with Pre-trained Language Models (Ditto)</a:t>
                      </a:r>
                    </a:p>
                  </a:txBody>
                  <a:tcPr marL="72829" marR="72829" marT="18000" marB="18000"/>
                </a:tc>
                <a:tc>
                  <a:txBody>
                    <a:bodyPr/>
                    <a:lstStyle/>
                    <a:p>
                      <a:pPr algn="just"/>
                      <a:r>
                        <a:rPr lang="en-US" sz="1100" dirty="0">
                          <a:latin typeface="Times New Roman" panose="02020603050405020304" pitchFamily="18" charset="0"/>
                          <a:cs typeface="Times New Roman" panose="02020603050405020304" pitchFamily="18" charset="0"/>
                        </a:rPr>
                        <a:t>Evaluated on flat e-commerce/product catalogs with no structural relationships.</a:t>
                      </a:r>
                    </a:p>
                  </a:txBody>
                  <a:tcPr marL="72829" marR="72829" marT="18000" marB="18000"/>
                </a:tc>
                <a:tc>
                  <a:txBody>
                    <a:bodyPr/>
                    <a:lstStyle/>
                    <a:p>
                      <a:pPr algn="just"/>
                      <a:r>
                        <a:rPr lang="en-US" sz="1100" dirty="0">
                          <a:latin typeface="Times New Roman" panose="02020603050405020304" pitchFamily="18" charset="0"/>
                          <a:cs typeface="Times New Roman" panose="02020603050405020304" pitchFamily="18" charset="0"/>
                        </a:rPr>
                        <a:t>No evaluation on hierarchical, relationally-linked enterprise data.</a:t>
                      </a:r>
                    </a:p>
                  </a:txBody>
                  <a:tcPr marL="72829" marR="72829" marT="18000" marB="18000"/>
                </a:tc>
                <a:tc>
                  <a:txBody>
                    <a:bodyPr/>
                    <a:lstStyle/>
                    <a:p>
                      <a:pPr algn="just"/>
                      <a:r>
                        <a:rPr lang="en-US" sz="1100" dirty="0">
                          <a:latin typeface="Times New Roman" panose="02020603050405020304" pitchFamily="18" charset="0"/>
                          <a:cs typeface="Times New Roman" panose="02020603050405020304" pitchFamily="18" charset="0"/>
                        </a:rPr>
                        <a:t>Fine-tuned Transformer (BERT/RoBERTa) as sequence-pair classification, with data augmentation</a:t>
                      </a:r>
                    </a:p>
                  </a:txBody>
                  <a:tcPr marL="72829" marR="72829" marT="18000" marB="18000"/>
                </a:tc>
                <a:tc>
                  <a:txBody>
                    <a:bodyPr/>
                    <a:lstStyle/>
                    <a:p>
                      <a:pPr algn="just"/>
                      <a:r>
                        <a:rPr lang="en-US" sz="1100" dirty="0">
                          <a:latin typeface="Times New Roman" panose="02020603050405020304" pitchFamily="18" charset="0"/>
                          <a:cs typeface="Times New Roman" panose="02020603050405020304" pitchFamily="18" charset="0"/>
                        </a:rPr>
                        <a:t>Pre-trained LMs beat prior entity-matching SOTA by up to 29% F1; needs domain-knowledge injection to focus attention.</a:t>
                      </a:r>
                    </a:p>
                  </a:txBody>
                  <a:tcPr marL="72829" marR="72829" marT="18000" marB="18000"/>
                </a:tc>
                <a:extLst>
                  <a:ext uri="{0D108BD9-81ED-4DB2-BD59-A6C34878D82A}">
                    <a16:rowId xmlns:a16="http://schemas.microsoft.com/office/drawing/2014/main" val="10001"/>
                  </a:ext>
                </a:extLst>
              </a:tr>
              <a:tr h="960893">
                <a:tc>
                  <a:txBody>
                    <a:bodyPr/>
                    <a:lstStyle/>
                    <a:p>
                      <a:r>
                        <a:rPr lang="en-US" sz="1000" dirty="0">
                          <a:latin typeface="Times New Roman" panose="02020603050405020304" pitchFamily="18" charset="0"/>
                          <a:cs typeface="Times New Roman" panose="02020603050405020304" pitchFamily="18" charset="0"/>
                        </a:rPr>
                        <a:t>2</a:t>
                      </a:r>
                    </a:p>
                  </a:txBody>
                  <a:tcPr marL="72829" marR="72829" marT="18000" marB="18000"/>
                </a:tc>
                <a:tc>
                  <a:txBody>
                    <a:bodyPr/>
                    <a:lstStyle/>
                    <a:p>
                      <a:r>
                        <a:rPr lang="en-US" sz="1100" dirty="0">
                          <a:latin typeface="Times New Roman" panose="02020603050405020304" pitchFamily="18" charset="0"/>
                          <a:cs typeface="Times New Roman" panose="02020603050405020304" pitchFamily="18" charset="0"/>
                        </a:rPr>
                        <a:t>LinkTransformer: A Unified Package for Record Linkage with Transformer LMs</a:t>
                      </a:r>
                    </a:p>
                  </a:txBody>
                  <a:tcPr marL="72829" marR="72829" marT="18000" marB="18000"/>
                </a:tc>
                <a:tc>
                  <a:txBody>
                    <a:bodyPr/>
                    <a:lstStyle/>
                    <a:p>
                      <a:pPr algn="just"/>
                      <a:r>
                        <a:rPr lang="en-US" sz="1100" dirty="0">
                          <a:latin typeface="Times New Roman" panose="02020603050405020304" pitchFamily="18" charset="0"/>
                          <a:cs typeface="Times New Roman" panose="02020603050405020304" pitchFamily="18" charset="0"/>
                        </a:rPr>
                        <a:t>Treats linkage as a standalone task with no downstream conflict-resolution step.</a:t>
                      </a:r>
                    </a:p>
                  </a:txBody>
                  <a:tcPr marL="72829" marR="72829" marT="18000" marB="18000"/>
                </a:tc>
                <a:tc>
                  <a:txBody>
                    <a:bodyPr/>
                    <a:lstStyle/>
                    <a:p>
                      <a:pPr algn="just"/>
                      <a:r>
                        <a:rPr lang="en-US" sz="1100" dirty="0">
                          <a:latin typeface="Times New Roman" panose="02020603050405020304" pitchFamily="18" charset="0"/>
                          <a:cs typeface="Times New Roman" panose="02020603050405020304" pitchFamily="18" charset="0"/>
                        </a:rPr>
                        <a:t>Matching solved in isolation from what happens after a match is found.</a:t>
                      </a:r>
                    </a:p>
                  </a:txBody>
                  <a:tcPr marL="72829" marR="72829" marT="18000" marB="18000"/>
                </a:tc>
                <a:tc>
                  <a:txBody>
                    <a:bodyPr/>
                    <a:lstStyle/>
                    <a:p>
                      <a:pPr algn="just"/>
                      <a:r>
                        <a:rPr lang="en-US" sz="1100" dirty="0">
                          <a:latin typeface="Times New Roman" panose="02020603050405020304" pitchFamily="18" charset="0"/>
                          <a:cs typeface="Times New Roman" panose="02020603050405020304" pitchFamily="18" charset="0"/>
                        </a:rPr>
                        <a:t>Sentence-transformer embeddings fine-tuned for record linkage, packaged as a unified toolkit</a:t>
                      </a:r>
                    </a:p>
                  </a:txBody>
                  <a:tcPr marL="72829" marR="72829" marT="18000" marB="18000"/>
                </a:tc>
                <a:tc>
                  <a:txBody>
                    <a:bodyPr/>
                    <a:lstStyle/>
                    <a:p>
                      <a:pPr algn="just"/>
                      <a:r>
                        <a:rPr lang="en-US" sz="1100" dirty="0">
                          <a:latin typeface="Times New Roman" panose="02020603050405020304" pitchFamily="18" charset="0"/>
                          <a:cs typeface="Times New Roman" panose="02020603050405020304" pitchFamily="18" charset="0"/>
                        </a:rPr>
                        <a:t>Lowers the barrier to transformer-based linkage, but string-matching baselines still dominate real deployments.</a:t>
                      </a:r>
                    </a:p>
                  </a:txBody>
                  <a:tcPr marL="72829" marR="72829" marT="18000" marB="18000"/>
                </a:tc>
                <a:extLst>
                  <a:ext uri="{0D108BD9-81ED-4DB2-BD59-A6C34878D82A}">
                    <a16:rowId xmlns:a16="http://schemas.microsoft.com/office/drawing/2014/main" val="1058075532"/>
                  </a:ext>
                </a:extLst>
              </a:tr>
              <a:tr h="935112">
                <a:tc>
                  <a:txBody>
                    <a:bodyPr/>
                    <a:lstStyle/>
                    <a:p>
                      <a:r>
                        <a:rPr lang="en-US" sz="1000" dirty="0">
                          <a:latin typeface="Times New Roman" panose="02020603050405020304" pitchFamily="18" charset="0"/>
                          <a:cs typeface="Times New Roman" panose="02020603050405020304" pitchFamily="18" charset="0"/>
                        </a:rPr>
                        <a:t>3</a:t>
                      </a:r>
                    </a:p>
                  </a:txBody>
                  <a:tcPr marL="72829" marR="72829" marT="18000" marB="18000"/>
                </a:tc>
                <a:tc>
                  <a:txBody>
                    <a:bodyPr/>
                    <a:lstStyle/>
                    <a:p>
                      <a:r>
                        <a:rPr lang="en-US" sz="1100" dirty="0">
                          <a:latin typeface="Times New Roman" panose="02020603050405020304" pitchFamily="18" charset="0"/>
                          <a:cs typeface="Times New Roman" panose="02020603050405020304" pitchFamily="18" charset="0"/>
                        </a:rPr>
                        <a:t>Trustworthy Self-Composable </a:t>
                      </a:r>
                      <a:r>
                        <a:rPr lang="en-US" sz="1100" dirty="0" err="1">
                          <a:latin typeface="Times New Roman" panose="02020603050405020304" pitchFamily="18" charset="0"/>
                          <a:cs typeface="Times New Roman" panose="02020603050405020304" pitchFamily="18" charset="0"/>
                        </a:rPr>
                        <a:t>BDaaS</a:t>
                      </a:r>
                      <a:r>
                        <a:rPr lang="en-US" sz="1100" dirty="0">
                          <a:latin typeface="Times New Roman" panose="02020603050405020304" pitchFamily="18" charset="0"/>
                          <a:cs typeface="Times New Roman" panose="02020603050405020304" pitchFamily="18" charset="0"/>
                        </a:rPr>
                        <a:t>: LLM-Orchestrated Multi-Agent Data Engineering</a:t>
                      </a:r>
                    </a:p>
                  </a:txBody>
                  <a:tcPr marL="72829" marR="72829" marT="18000" marB="18000"/>
                </a:tc>
                <a:tc>
                  <a:txBody>
                    <a:bodyPr/>
                    <a:lstStyle/>
                    <a:p>
                      <a:pPr algn="just"/>
                      <a:r>
                        <a:rPr lang="en-US" sz="1100" dirty="0">
                          <a:latin typeface="Times New Roman" panose="02020603050405020304" pitchFamily="18" charset="0"/>
                          <a:cs typeface="Times New Roman" panose="02020603050405020304" pitchFamily="18" charset="0"/>
                        </a:rPr>
                        <a:t>Demonstrates agent specialization and audit trails only on generic tabular ML pipelines.</a:t>
                      </a:r>
                    </a:p>
                  </a:txBody>
                  <a:tcPr marL="72829" marR="72829" marT="18000" marB="1800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latin typeface="Times New Roman" panose="02020603050405020304" pitchFamily="18" charset="0"/>
                          <a:cs typeface="Times New Roman" panose="02020603050405020304" pitchFamily="18" charset="0"/>
                        </a:rPr>
                        <a:t>No evidence these governance patterns transfer to real CRM/org-data reconciliation.</a:t>
                      </a:r>
                    </a:p>
                  </a:txBody>
                  <a:tcPr marL="72829" marR="72829" marT="18000" marB="18000"/>
                </a:tc>
                <a:tc>
                  <a:txBody>
                    <a:bodyPr/>
                    <a:lstStyle/>
                    <a:p>
                      <a:r>
                        <a:rPr lang="en-US" sz="1100" dirty="0">
                          <a:latin typeface="Times New Roman" panose="02020603050405020304" pitchFamily="18" charset="0"/>
                          <a:cs typeface="Times New Roman" panose="02020603050405020304" pitchFamily="18" charset="0"/>
                        </a:rPr>
                        <a:t>Specialized agents per data-lifecycle stage under a central LLM orchestrator with human checkpoints</a:t>
                      </a:r>
                    </a:p>
                  </a:txBody>
                  <a:tcPr marL="72829" marR="72829" marT="18000" marB="18000"/>
                </a:tc>
                <a:tc>
                  <a:txBody>
                    <a:bodyPr/>
                    <a:lstStyle/>
                    <a:p>
                      <a:r>
                        <a:rPr lang="en-US" sz="1100" dirty="0">
                          <a:latin typeface="Times New Roman" panose="02020603050405020304" pitchFamily="18" charset="0"/>
                          <a:cs typeface="Times New Roman" panose="02020603050405020304" pitchFamily="18" charset="0"/>
                        </a:rPr>
                        <a:t>Demonstrates reusable governance/audit patterns, but evaluated only on tabular ML pipelines, not CRM data.</a:t>
                      </a:r>
                    </a:p>
                  </a:txBody>
                  <a:tcPr marL="72829" marR="72829" marT="18000" marB="18000"/>
                </a:tc>
                <a:extLst>
                  <a:ext uri="{0D108BD9-81ED-4DB2-BD59-A6C34878D82A}">
                    <a16:rowId xmlns:a16="http://schemas.microsoft.com/office/drawing/2014/main" val="3384190322"/>
                  </a:ext>
                </a:extLst>
              </a:tr>
              <a:tr h="960893">
                <a:tc>
                  <a:txBody>
                    <a:bodyPr/>
                    <a:lstStyle/>
                    <a:p>
                      <a:r>
                        <a:rPr lang="en-US" sz="1000" dirty="0">
                          <a:latin typeface="Times New Roman" panose="02020603050405020304" pitchFamily="18" charset="0"/>
                          <a:cs typeface="Times New Roman" panose="02020603050405020304" pitchFamily="18" charset="0"/>
                        </a:rPr>
                        <a:t>4</a:t>
                      </a:r>
                    </a:p>
                  </a:txBody>
                  <a:tcPr marL="72829" marR="72829" marT="18000" marB="18000"/>
                </a:tc>
                <a:tc>
                  <a:txBody>
                    <a:bodyPr/>
                    <a:lstStyle/>
                    <a:p>
                      <a:r>
                        <a:rPr lang="en-US" sz="1100" dirty="0">
                          <a:latin typeface="Times New Roman" panose="02020603050405020304" pitchFamily="18" charset="0"/>
                          <a:cs typeface="Times New Roman" panose="02020603050405020304" pitchFamily="18" charset="0"/>
                        </a:rPr>
                        <a:t>Structured Multi-Step Reasoning for Entity Matching Using LLMs</a:t>
                      </a:r>
                    </a:p>
                  </a:txBody>
                  <a:tcPr marL="72829" marR="72829" marT="18000" marB="18000"/>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100" dirty="0">
                          <a:latin typeface="Times New Roman" panose="02020603050405020304" pitchFamily="18" charset="0"/>
                          <a:cs typeface="Times New Roman" panose="02020603050405020304" pitchFamily="18" charset="0"/>
                        </a:rPr>
                        <a:t>Improves interpretability but adds latency; no check that reasoning is grounded in real data.</a:t>
                      </a:r>
                    </a:p>
                  </a:txBody>
                  <a:tcPr marL="72829" marR="72829" marT="18000" marB="18000"/>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100" dirty="0">
                          <a:latin typeface="Times New Roman" panose="02020603050405020304" pitchFamily="18" charset="0"/>
                          <a:cs typeface="Times New Roman" panose="02020603050405020304" pitchFamily="18" charset="0"/>
                        </a:rPr>
                        <a:t>Reasoning transparency without a factual-grounding guarantee.</a:t>
                      </a:r>
                    </a:p>
                  </a:txBody>
                  <a:tcPr marL="72829" marR="72829" marT="18000" marB="18000"/>
                </a:tc>
                <a:tc>
                  <a:txBody>
                    <a:bodyPr/>
                    <a:lstStyle/>
                    <a:p>
                      <a:pPr algn="just"/>
                      <a:r>
                        <a:rPr lang="en-US" sz="1100" dirty="0">
                          <a:latin typeface="Times New Roman" panose="02020603050405020304" pitchFamily="18" charset="0"/>
                          <a:cs typeface="Times New Roman" panose="02020603050405020304" pitchFamily="18" charset="0"/>
                        </a:rPr>
                        <a:t>Decomposes matching into intermediate evidence-generation steps rather than one-shot classification</a:t>
                      </a:r>
                    </a:p>
                  </a:txBody>
                  <a:tcPr marL="72829" marR="72829" marT="18000" marB="18000"/>
                </a:tc>
                <a:tc>
                  <a:txBody>
                    <a:bodyPr/>
                    <a:lstStyle/>
                    <a:p>
                      <a:pPr algn="just"/>
                      <a:r>
                        <a:rPr lang="en-US" sz="1100" dirty="0">
                          <a:latin typeface="Times New Roman" panose="02020603050405020304" pitchFamily="18" charset="0"/>
                          <a:cs typeface="Times New Roman" panose="02020603050405020304" pitchFamily="18" charset="0"/>
                        </a:rPr>
                        <a:t>Multi-step reasoning improves accuracy and interpretability over monolithic LLM matching, at added latency cost.</a:t>
                      </a:r>
                    </a:p>
                  </a:txBody>
                  <a:tcPr marL="72829" marR="72829" marT="18000" marB="18000"/>
                </a:tc>
                <a:extLst>
                  <a:ext uri="{0D108BD9-81ED-4DB2-BD59-A6C34878D82A}">
                    <a16:rowId xmlns:a16="http://schemas.microsoft.com/office/drawing/2014/main" val="1786137085"/>
                  </a:ext>
                </a:extLst>
              </a:tr>
              <a:tr h="960893">
                <a:tc>
                  <a:txBody>
                    <a:bodyPr/>
                    <a:lstStyle/>
                    <a:p>
                      <a:r>
                        <a:rPr lang="en-US" sz="1000" dirty="0">
                          <a:latin typeface="Times New Roman" panose="02020603050405020304" pitchFamily="18" charset="0"/>
                          <a:cs typeface="Times New Roman" panose="02020603050405020304" pitchFamily="18" charset="0"/>
                        </a:rPr>
                        <a:t>5</a:t>
                      </a:r>
                    </a:p>
                  </a:txBody>
                  <a:tcPr marL="72829" marR="72829" marT="18000" marB="18000"/>
                </a:tc>
                <a:tc>
                  <a:txBody>
                    <a:bodyPr/>
                    <a:lstStyle/>
                    <a:p>
                      <a:r>
                        <a:rPr lang="en-US" sz="1100" dirty="0">
                          <a:latin typeface="Times New Roman" panose="02020603050405020304" pitchFamily="18" charset="0"/>
                          <a:cs typeface="Times New Roman" panose="02020603050405020304" pitchFamily="18" charset="0"/>
                        </a:rPr>
                        <a:t>A Comprehensive Survey of Hallucination Mitigation Techniques in LLMs</a:t>
                      </a:r>
                    </a:p>
                  </a:txBody>
                  <a:tcPr marL="72829" marR="72829" marT="18000" marB="18000"/>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100" dirty="0">
                          <a:latin typeface="Times New Roman" panose="02020603050405020304" pitchFamily="18" charset="0"/>
                          <a:cs typeface="Times New Roman" panose="02020603050405020304" pitchFamily="18" charset="0"/>
                        </a:rPr>
                        <a:t>Mitigation techniques surveyed generically, mostly on QA/summarization tasks.</a:t>
                      </a:r>
                    </a:p>
                  </a:txBody>
                  <a:tcPr marL="72829" marR="72829" marT="18000" marB="18000"/>
                </a:tc>
                <a:tc>
                  <a:txBody>
                    <a:bodyPr/>
                    <a:lstStyle/>
                    <a:p>
                      <a:pPr algn="just"/>
                      <a:r>
                        <a:rPr lang="en-US" sz="1100" dirty="0">
                          <a:latin typeface="Times New Roman" panose="02020603050405020304" pitchFamily="18" charset="0"/>
                          <a:cs typeface="Times New Roman" panose="02020603050405020304" pitchFamily="18" charset="0"/>
                        </a:rPr>
                        <a:t>No evaluation of hallucination risk for structured database field values.</a:t>
                      </a:r>
                    </a:p>
                  </a:txBody>
                  <a:tcPr marL="72829" marR="72829" marT="18000" marB="18000"/>
                </a:tc>
                <a:tc>
                  <a:txBody>
                    <a:bodyPr/>
                    <a:lstStyle/>
                    <a:p>
                      <a:pPr algn="just"/>
                      <a:r>
                        <a:rPr lang="en-US" sz="1100" dirty="0">
                          <a:latin typeface="Times New Roman" panose="02020603050405020304" pitchFamily="18" charset="0"/>
                          <a:cs typeface="Times New Roman" panose="02020603050405020304" pitchFamily="18" charset="0"/>
                        </a:rPr>
                        <a:t>Taxonomy of RAG, prompt refinement, chain-of-verification and constrained decoding</a:t>
                      </a:r>
                    </a:p>
                  </a:txBody>
                  <a:tcPr marL="72829" marR="72829" marT="18000" marB="18000"/>
                </a:tc>
                <a:tc>
                  <a:txBody>
                    <a:bodyPr/>
                    <a:lstStyle/>
                    <a:p>
                      <a:pPr algn="just"/>
                      <a:r>
                        <a:rPr lang="en-US" sz="1100" dirty="0">
                          <a:latin typeface="Times New Roman" panose="02020603050405020304" pitchFamily="18" charset="0"/>
                          <a:cs typeface="Times New Roman" panose="02020603050405020304" pitchFamily="18" charset="0"/>
                        </a:rPr>
                        <a:t>Combining retrieval grounding with verification loops is the strongest lever against fabricated outputs.</a:t>
                      </a:r>
                    </a:p>
                  </a:txBody>
                  <a:tcPr marL="72829" marR="72829" marT="18000" marB="18000"/>
                </a:tc>
                <a:extLst>
                  <a:ext uri="{0D108BD9-81ED-4DB2-BD59-A6C34878D82A}">
                    <a16:rowId xmlns:a16="http://schemas.microsoft.com/office/drawing/2014/main" val="3038701181"/>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590800"/>
            <a:ext cx="8229600" cy="1143000"/>
          </a:xfrm>
        </p:spPr>
        <p:txBody>
          <a:bodyPr/>
          <a:lstStyle/>
          <a:p>
            <a:r>
              <a:rPr lang="en-US" dirty="0">
                <a:latin typeface="Times New Roman" panose="02020603050405020304" pitchFamily="18" charset="0"/>
                <a:cs typeface="Times New Roman" panose="02020603050405020304" pitchFamily="18" charset="0"/>
              </a:rPr>
              <a:t>Thank You</a:t>
            </a:r>
          </a:p>
        </p:txBody>
      </p:sp>
      <p:pic>
        <p:nvPicPr>
          <p:cNvPr id="5" name="Picture 4">
            <a:extLst>
              <a:ext uri="{FF2B5EF4-FFF2-40B4-BE49-F238E27FC236}">
                <a16:creationId xmlns:a16="http://schemas.microsoft.com/office/drawing/2014/main" id="{A167AB86-8076-BE82-53DE-675889C16FF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877175" y="152400"/>
            <a:ext cx="885825" cy="107274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1695</TotalTime>
  <Words>834</Words>
  <Application>Microsoft Office PowerPoint</Application>
  <PresentationFormat>On-screen Show (4:3)</PresentationFormat>
  <Paragraphs>67</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Times New Roman</vt:lpstr>
      <vt:lpstr>Office Theme</vt:lpstr>
      <vt:lpstr>Canon: An AI-Assisted Reconciliation Engine for CRM-Data Warehouse Hierarchy Synchronization Department of CSE(AI and ML)</vt:lpstr>
      <vt:lpstr>PowerPoint Presentation</vt:lpstr>
      <vt:lpstr>ABSTRACT</vt:lpstr>
      <vt:lpstr>Problem Statement</vt:lpstr>
      <vt:lpstr>INTRODUCTION</vt:lpstr>
      <vt:lpstr>INTRODUCTION </vt:lpstr>
      <vt:lpstr>LITERATURE REVIEW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of your Project</dc:title>
  <dc:creator>student</dc:creator>
  <cp:lastModifiedBy>Parinita Malisetty</cp:lastModifiedBy>
  <cp:revision>63</cp:revision>
  <dcterms:created xsi:type="dcterms:W3CDTF">2024-09-26T06:08:00Z</dcterms:created>
  <dcterms:modified xsi:type="dcterms:W3CDTF">2026-08-11T16:57:21Z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743B5E490E4F4CDD9A26841D39D74D9F_12</vt:lpwstr>
  </property>
  <property fmtid="{D5CDD505-2E9C-101B-9397-08002B2CF9AE}" pid="3" name="KSOProductBuildVer">
    <vt:lpwstr>1033-12.2.0.17562</vt:lpwstr>
  </property>
</Properties>
</file>